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731520"/>
            <a:ext cx="9144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FBF8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</a:t>
            </a:r>
            <a:pPr algn="ctr" indent="0" marL="0">
              <a:buNone/>
            </a:pPr>
            <a:r>
              <a:rPr lang="en-US" sz="7200" i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stice</a:t>
            </a:r>
            <a:endParaRPr lang="en-US" sz="7200" dirty="0"/>
          </a:p>
        </p:txBody>
      </p:sp>
      <p:sp>
        <p:nvSpPr>
          <p:cNvPr id="3" name="Shape 1"/>
          <p:cNvSpPr/>
          <p:nvPr/>
        </p:nvSpPr>
        <p:spPr>
          <a:xfrm>
            <a:off x="3657600" y="2286000"/>
            <a:ext cx="1828800" cy="0"/>
          </a:xfrm>
          <a:prstGeom prst="line">
            <a:avLst/>
          </a:prstGeom>
          <a:noFill/>
          <a:ln w="12700">
            <a:solidFill>
              <a:srgbClr val="E07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25603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EDE6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AI Company, On Your Wrist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338328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a command. A team of AI agents that remember,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9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communicate, and evolve handles the rest while you live your life.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0" y="42976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Varun Kalvakota  ·  Veer Saraf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0" y="466344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HackHayward 2026  —  AI-Driven Entrepreneurship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You’re doing five jobs.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22960" y="1463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tools still make you the bottleneck.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22960" y="2450592"/>
            <a:ext cx="164592" cy="164592"/>
          </a:xfrm>
          <a:prstGeom prst="ellipse">
            <a:avLst/>
          </a:prstGeom>
          <a:solidFill>
            <a:srgbClr val="E07A5F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3317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926080" y="233172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Google it, read 20 tabs, summarize it yourself.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2962656"/>
            <a:ext cx="164592" cy="164592"/>
          </a:xfrm>
          <a:prstGeom prst="ellipse">
            <a:avLst/>
          </a:prstGeom>
          <a:solidFill>
            <a:srgbClr val="E07A5F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2843784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Outreach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926080" y="2843784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draft every email, personalize each one manually.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" y="3474720"/>
            <a:ext cx="164592" cy="164592"/>
          </a:xfrm>
          <a:prstGeom prst="ellipse">
            <a:avLst/>
          </a:prstGeom>
          <a:solidFill>
            <a:srgbClr val="E07A5F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335584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926080" y="3355848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build the landing page, write the copy, deploy it.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2960" y="3986784"/>
            <a:ext cx="164592" cy="164592"/>
          </a:xfrm>
          <a:prstGeom prst="ellipse">
            <a:avLst/>
          </a:prstGeom>
          <a:solidFill>
            <a:srgbClr val="E07A5F"/>
          </a:solidFill>
          <a:ln/>
        </p:spPr>
      </p:sp>
      <p:sp>
        <p:nvSpPr>
          <p:cNvPr id="15" name="Text 13"/>
          <p:cNvSpPr/>
          <p:nvPr/>
        </p:nvSpPr>
        <p:spPr>
          <a:xfrm>
            <a:off x="1143000" y="386791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926080" y="3867912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make every follow-up call personally.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22960" y="4498848"/>
            <a:ext cx="164592" cy="164592"/>
          </a:xfrm>
          <a:prstGeom prst="ellipse">
            <a:avLst/>
          </a:prstGeom>
          <a:solidFill>
            <a:srgbClr val="E07A5F"/>
          </a:solidFill>
          <a:ln/>
        </p:spPr>
      </p:sp>
      <p:sp>
        <p:nvSpPr>
          <p:cNvPr id="18" name="Text 16"/>
          <p:cNvSpPr/>
          <p:nvPr/>
        </p:nvSpPr>
        <p:spPr>
          <a:xfrm>
            <a:off x="1143000" y="4379976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926080" y="4379976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the glue holding everything together.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2960" y="4663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9A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AI tool replaced the keyboard with a chatbox — but kept the bottleneck: you.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81B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Speak. </a:t>
            </a:r>
            <a:pPr indent="0" marL="0">
              <a:buNone/>
            </a:pPr>
            <a:r>
              <a:rPr lang="en-US" sz="4200" i="1" dirty="0">
                <a:solidFill>
                  <a:srgbClr val="81B2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Delegate. </a:t>
            </a:r>
            <a:pPr indent="0" marL="0">
              <a:buNone/>
            </a:pPr>
            <a:r>
              <a:rPr lang="en-US" sz="4200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Done.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365760" y="2011680"/>
            <a:ext cx="1572768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162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2011680"/>
            <a:ext cx="1572768" cy="4572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214884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i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2697480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speak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3063240"/>
            <a:ext cx="13898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command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OMI wearable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901952" y="265176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A9AAE"/>
                </a:solidFill>
              </a:rPr>
              <a:t>›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084832" y="2011680"/>
            <a:ext cx="1572768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162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084832" y="2011680"/>
            <a:ext cx="1572768" cy="45720"/>
          </a:xfrm>
          <a:prstGeom prst="rect">
            <a:avLst/>
          </a:prstGeom>
          <a:solidFill>
            <a:srgbClr val="81B29A"/>
          </a:solidFill>
          <a:ln/>
        </p:spPr>
      </p:sp>
      <p:sp>
        <p:nvSpPr>
          <p:cNvPr id="12" name="Text 10"/>
          <p:cNvSpPr/>
          <p:nvPr/>
        </p:nvSpPr>
        <p:spPr>
          <a:xfrm>
            <a:off x="2084832" y="214884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i="1" dirty="0">
                <a:solidFill>
                  <a:srgbClr val="81B2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2176272" y="2697480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hears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176272" y="3063240"/>
            <a:ext cx="13898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CEO decomposes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subtasks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21024" y="265176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A9AAE"/>
                </a:solidFill>
              </a:rPr>
              <a:t>›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3803904" y="2011680"/>
            <a:ext cx="1572768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162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803904" y="2011680"/>
            <a:ext cx="1572768" cy="45720"/>
          </a:xfrm>
          <a:prstGeom prst="rect">
            <a:avLst/>
          </a:prstGeom>
          <a:solidFill>
            <a:srgbClr val="9B8EC4"/>
          </a:solidFill>
          <a:ln/>
        </p:spPr>
      </p:sp>
      <p:sp>
        <p:nvSpPr>
          <p:cNvPr id="18" name="Text 16"/>
          <p:cNvSpPr/>
          <p:nvPr/>
        </p:nvSpPr>
        <p:spPr>
          <a:xfrm>
            <a:off x="3803904" y="214884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i="1" dirty="0">
                <a:solidFill>
                  <a:srgbClr val="9B8E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3895344" y="2697480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run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895344" y="3063240"/>
            <a:ext cx="13898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Research, Comms, Dev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in parallel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340096" y="265176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A9AAE"/>
                </a:solidFill>
              </a:rPr>
              <a:t>›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5522976" y="2011680"/>
            <a:ext cx="1572768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1620000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522976" y="2011680"/>
            <a:ext cx="1572768" cy="4572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24" name="Text 22"/>
          <p:cNvSpPr/>
          <p:nvPr/>
        </p:nvSpPr>
        <p:spPr>
          <a:xfrm>
            <a:off x="5522976" y="214884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i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5614416" y="2697480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talk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614416" y="3063240"/>
            <a:ext cx="13898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share findings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collaborate mid-task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059168" y="265176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A9AAE"/>
                </a:solidFill>
              </a:rPr>
              <a:t>›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7242048" y="2011680"/>
            <a:ext cx="1572768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16200000">
              <a:srgbClr val="000000">
                <a:alpha val="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242048" y="2011680"/>
            <a:ext cx="1572768" cy="45720"/>
          </a:xfrm>
          <a:prstGeom prst="rect">
            <a:avLst/>
          </a:prstGeom>
          <a:solidFill>
            <a:srgbClr val="4EADA1"/>
          </a:solidFill>
          <a:ln/>
        </p:spPr>
      </p:sp>
      <p:sp>
        <p:nvSpPr>
          <p:cNvPr id="30" name="Text 28"/>
          <p:cNvSpPr/>
          <p:nvPr/>
        </p:nvSpPr>
        <p:spPr>
          <a:xfrm>
            <a:off x="7242048" y="214884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i="1" dirty="0">
                <a:solidFill>
                  <a:srgbClr val="4EADA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200" dirty="0"/>
          </a:p>
        </p:txBody>
      </p:sp>
      <p:sp>
        <p:nvSpPr>
          <p:cNvPr id="31" name="Text 29"/>
          <p:cNvSpPr/>
          <p:nvPr/>
        </p:nvSpPr>
        <p:spPr>
          <a:xfrm>
            <a:off x="7333488" y="2697480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reports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333488" y="3063240"/>
            <a:ext cx="13898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Synthesized result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through your wrist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22960" y="4251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4A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a chatbot wrapper. A real AI company with an org chart, memory, and delegation.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0" y="475488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9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OMI  ·  Perplexity Agent API  ·  ElevenLabs  ·  Convex  ·  Claude  ·  Twilio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ISN’T AN API CALL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BF8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moats that make this</a:t>
            </a:r>
            <a:endParaRPr lang="en-US" sz="3200" dirty="0"/>
          </a:p>
          <a:p>
            <a:pPr indent="0" marL="0">
              <a:buNone/>
            </a:pPr>
            <a:r>
              <a:rPr lang="en-US" sz="3200" dirty="0">
                <a:solidFill>
                  <a:srgbClr val="FBF8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company, not a wrapper.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96596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417320" y="2020824"/>
            <a:ext cx="0" cy="365760"/>
          </a:xfrm>
          <a:prstGeom prst="line">
            <a:avLst/>
          </a:prstGeom>
          <a:noFill/>
          <a:ln w="19050">
            <a:solidFill>
              <a:srgbClr val="E07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00200" y="196596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F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Sessions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114800" y="1965960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resume via --resume. They remember everything across heartbeats.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56032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81B2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417320" y="2615184"/>
            <a:ext cx="0" cy="365760"/>
          </a:xfrm>
          <a:prstGeom prst="line">
            <a:avLst/>
          </a:prstGeom>
          <a:noFill/>
          <a:ln w="19050">
            <a:solidFill>
              <a:srgbClr val="81B2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00200" y="256032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F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Inter-Agent Comms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114800" y="2560320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message bus. Research feeds Dev and Comms mid-task.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315468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417320" y="3209544"/>
            <a:ext cx="0" cy="365760"/>
          </a:xfrm>
          <a:prstGeom prst="line">
            <a:avLst/>
          </a:prstGeom>
          <a:noFill/>
          <a:ln w="19050">
            <a:solidFill>
              <a:srgbClr val="D4A57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00200" y="315468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F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4-Layer Memory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114800" y="3154680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memory, contacts, per-agent memory, shared findings channel.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" y="374904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9B8E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417320" y="3803904"/>
            <a:ext cx="0" cy="365760"/>
          </a:xfrm>
          <a:prstGeom prst="line">
            <a:avLst/>
          </a:prstGeom>
          <a:noFill/>
          <a:ln w="19050">
            <a:solidFill>
              <a:srgbClr val="9B8EC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00200" y="374904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F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Execution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114800" y="3749040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Heartbeat scheduler + approval gates. They work while you live.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434340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4EADA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417320" y="4398264"/>
            <a:ext cx="0" cy="365760"/>
          </a:xfrm>
          <a:prstGeom prst="line">
            <a:avLst/>
          </a:prstGeom>
          <a:noFill/>
          <a:ln w="19050">
            <a:solidFill>
              <a:srgbClr val="4EADA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600200" y="434340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F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Wearable-Native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114800" y="4343400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OMI in, OMI out. Run your company from your wrist.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2960" y="4663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judging criteria asks: “Is it more than a basic API call?”  This is our answer.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company brain</a:t>
            </a:r>
            <a:endParaRPr lang="en-US" sz="3400" dirty="0"/>
          </a:p>
          <a:p>
            <a:pPr indent="0" marL="0">
              <a:buNone/>
            </a:pPr>
            <a:r>
              <a:rPr lang="en-US" sz="3400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that never forgets.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70332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16200000">
              <a:srgbClr val="000000">
                <a:alpha val="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20240"/>
            <a:ext cx="54864" cy="132588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0116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Memory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233172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file all agents read &amp; write.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Identity, decisions, activity log.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“Email Veer what we did today”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it already knows.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09160" y="1920240"/>
            <a:ext cx="370332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16200000">
              <a:srgbClr val="000000">
                <a:alpha val="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920240"/>
            <a:ext cx="54864" cy="1325880"/>
          </a:xfrm>
          <a:prstGeom prst="rect">
            <a:avLst/>
          </a:prstGeom>
          <a:solidFill>
            <a:srgbClr val="81B29A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20116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1B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Memory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233172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CRM that builds itself from voice.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Names, numbers, emails, history.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a name — it knows who they are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what you last discussed.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" y="3429000"/>
            <a:ext cx="370332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16200000">
              <a:srgbClr val="000000">
                <a:alpha val="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2960" y="3429000"/>
            <a:ext cx="54864" cy="1325880"/>
          </a:xfrm>
          <a:prstGeom prst="rect">
            <a:avLst/>
          </a:prstGeom>
          <a:solidFill>
            <a:srgbClr val="9B8EC4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35204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B8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Per-Agent Memory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51560" y="384048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carries its own memory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--resume sessions. Research knows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market. Comms knows your voice.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knows your stack.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09160" y="3429000"/>
            <a:ext cx="370332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16200000">
              <a:srgbClr val="000000">
                <a:alpha val="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3429000"/>
            <a:ext cx="54864" cy="132588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35204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Findings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37760" y="384048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posts to a shared channel.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 reads it instantly.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raises $50M? The entire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knows in seconds.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" y="47548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9A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“The company gets smarter every day — without retraining.”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EAD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PERPLEXITY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basic search.
</a:t>
            </a:r>
            <a:pPr indent="0" marL="0">
              <a:buNone/>
            </a:pPr>
            <a:r>
              <a:rPr lang="en-US" sz="3200" i="1" dirty="0">
                <a:solidFill>
                  <a:srgbClr val="4EADA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Autonomous research missions.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370332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16200000">
              <a:srgbClr val="000000">
                <a:alpha val="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65960"/>
            <a:ext cx="54864" cy="2743200"/>
          </a:xfrm>
          <a:prstGeom prst="rect">
            <a:avLst/>
          </a:prstGeom>
          <a:solidFill>
            <a:srgbClr val="4EADA1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057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EAD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API Capabilities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2423160"/>
            <a:ext cx="3200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API endpoint  —  not basic Sonar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Research preset: 10 autonomous steps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JSON outputs (schema-enforced)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filtering (Crunchbase, LinkedIn)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web_search + fetch_url built-in tools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Multi-model: Claude Opus, GPT-5, Grok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consumed by other agents as data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09160" y="1965960"/>
            <a:ext cx="370332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16200000">
              <a:srgbClr val="000000">
                <a:alpha val="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965960"/>
            <a:ext cx="54864" cy="2743200"/>
          </a:xfrm>
          <a:prstGeom prst="rect">
            <a:avLst/>
          </a:prstGeom>
          <a:solidFill>
            <a:srgbClr val="4EADA1"/>
          </a:solidFill>
          <a:ln/>
        </p:spPr>
      </p:sp>
      <p:sp>
        <p:nvSpPr>
          <p:cNvPr id="10" name="Text 8"/>
          <p:cNvSpPr/>
          <p:nvPr/>
        </p:nvSpPr>
        <p:spPr>
          <a:xfrm>
            <a:off x="4983480" y="2057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EAD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983480" y="2532888"/>
            <a:ext cx="201168" cy="201168"/>
          </a:xfrm>
          <a:prstGeom prst="ellipse">
            <a:avLst/>
          </a:prstGeom>
          <a:solidFill>
            <a:srgbClr val="4EADA1"/>
          </a:solidFill>
          <a:ln/>
        </p:spPr>
      </p:sp>
      <p:sp>
        <p:nvSpPr>
          <p:cNvPr id="12" name="Text 10"/>
          <p:cNvSpPr/>
          <p:nvPr/>
        </p:nvSpPr>
        <p:spPr>
          <a:xfrm>
            <a:off x="4983480" y="2496312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0" y="24688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“Find 10 AI wearable investors in the Bay Area”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983480" y="2880360"/>
            <a:ext cx="201168" cy="201168"/>
          </a:xfrm>
          <a:prstGeom prst="ellipse">
            <a:avLst/>
          </a:prstGeom>
          <a:solidFill>
            <a:srgbClr val="4EADA1"/>
          </a:solidFill>
          <a:ln/>
        </p:spPr>
      </p:sp>
      <p:sp>
        <p:nvSpPr>
          <p:cNvPr id="15" name="Text 13"/>
          <p:cNvSpPr/>
          <p:nvPr/>
        </p:nvSpPr>
        <p:spPr>
          <a:xfrm>
            <a:off x="4983480" y="2843784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303520" y="281635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API runs deep-research (10 autonomous steps)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983480" y="3227832"/>
            <a:ext cx="201168" cy="201168"/>
          </a:xfrm>
          <a:prstGeom prst="ellipse">
            <a:avLst/>
          </a:prstGeom>
          <a:solidFill>
            <a:srgbClr val="4EADA1"/>
          </a:solidFill>
          <a:ln/>
        </p:spPr>
      </p:sp>
      <p:sp>
        <p:nvSpPr>
          <p:cNvPr id="18" name="Text 16"/>
          <p:cNvSpPr/>
          <p:nvPr/>
        </p:nvSpPr>
        <p:spPr>
          <a:xfrm>
            <a:off x="4983480" y="3191256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0" y="316382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Searches Crunchbase, LinkedIn — reads full pages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983480" y="3575304"/>
            <a:ext cx="201168" cy="201168"/>
          </a:xfrm>
          <a:prstGeom prst="ellipse">
            <a:avLst/>
          </a:prstGeom>
          <a:solidFill>
            <a:srgbClr val="4EADA1"/>
          </a:solidFill>
          <a:ln/>
        </p:spPr>
      </p:sp>
      <p:sp>
        <p:nvSpPr>
          <p:cNvPr id="21" name="Text 19"/>
          <p:cNvSpPr/>
          <p:nvPr/>
        </p:nvSpPr>
        <p:spPr>
          <a:xfrm>
            <a:off x="4983480" y="3538728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303520" y="351129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structured JSON: name, firm, email, relevance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983480" y="3922776"/>
            <a:ext cx="201168" cy="201168"/>
          </a:xfrm>
          <a:prstGeom prst="ellipse">
            <a:avLst/>
          </a:prstGeom>
          <a:solidFill>
            <a:srgbClr val="4EADA1"/>
          </a:solidFill>
          <a:ln/>
        </p:spPr>
      </p:sp>
      <p:sp>
        <p:nvSpPr>
          <p:cNvPr id="24" name="Text 22"/>
          <p:cNvSpPr/>
          <p:nvPr/>
        </p:nvSpPr>
        <p:spPr>
          <a:xfrm>
            <a:off x="4983480" y="3886200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303520" y="385876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Comms Agent reads JSON → drafts 10 personalized emails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983480" y="4270248"/>
            <a:ext cx="201168" cy="201168"/>
          </a:xfrm>
          <a:prstGeom prst="ellipse">
            <a:avLst/>
          </a:prstGeom>
          <a:solidFill>
            <a:srgbClr val="4EADA1"/>
          </a:solidFill>
          <a:ln/>
        </p:spPr>
      </p:sp>
      <p:sp>
        <p:nvSpPr>
          <p:cNvPr id="27" name="Text 25"/>
          <p:cNvSpPr/>
          <p:nvPr/>
        </p:nvSpPr>
        <p:spPr>
          <a:xfrm>
            <a:off x="4983480" y="4233672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303520" y="4206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gates → you approve each send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22960" y="47548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EADA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search. An autonomous research department.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49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ELEVENLABS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text-to-speech.
</a:t>
            </a:r>
            <a:pPr indent="0" marL="0">
              <a:buNone/>
            </a:pPr>
            <a:r>
              <a:rPr lang="en-US" sz="3200" i="1" dirty="0">
                <a:solidFill>
                  <a:srgbClr val="D494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AI phone calls.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370332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16200000">
              <a:srgbClr val="000000">
                <a:alpha val="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65960"/>
            <a:ext cx="54864" cy="2377440"/>
          </a:xfrm>
          <a:prstGeom prst="rect">
            <a:avLst/>
          </a:prstGeom>
          <a:solidFill>
            <a:srgbClr val="D4944C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057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9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Agent Capabilities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2423160"/>
            <a:ext cx="3200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AI 2.0 — not scripted TTS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Twilio integration for outbound calls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Sub-100ms turn-taking, natural conversation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tools: queries Convex mid-call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company memory during live calls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32+ language auto-detection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09160" y="1965960"/>
            <a:ext cx="370332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16200000">
              <a:srgbClr val="000000">
                <a:alpha val="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965960"/>
            <a:ext cx="54864" cy="2377440"/>
          </a:xfrm>
          <a:prstGeom prst="rect">
            <a:avLst/>
          </a:prstGeom>
          <a:solidFill>
            <a:srgbClr val="D4944C"/>
          </a:solidFill>
          <a:ln/>
        </p:spPr>
      </p:sp>
      <p:sp>
        <p:nvSpPr>
          <p:cNvPr id="10" name="Text 8"/>
          <p:cNvSpPr/>
          <p:nvPr/>
        </p:nvSpPr>
        <p:spPr>
          <a:xfrm>
            <a:off x="4983480" y="2057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9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Demo Moment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83480" y="242316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“Call Veer and give him a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status update on what we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accomplished today.”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83480" y="320040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Agent reads company memory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contextual script from today’s data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card → you approve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phone rings. Real conversation.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 streams live on dashboard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2960" y="45720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494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real phone call, mid-demo. That’s not a feature. That’s a statement.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0" i="1" dirty="0">
                <a:solidFill>
                  <a:srgbClr val="FBF8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</a:t>
            </a:r>
            <a:pPr algn="ctr" indent="0" marL="0">
              <a:buNone/>
            </a:pPr>
            <a:r>
              <a:rPr lang="en-US" sz="6800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</a:t>
            </a:r>
            <a:endParaRPr lang="en-US" sz="6800" dirty="0"/>
          </a:p>
        </p:txBody>
      </p:sp>
      <p:sp>
        <p:nvSpPr>
          <p:cNvPr id="3" name="Shape 1"/>
          <p:cNvSpPr/>
          <p:nvPr/>
        </p:nvSpPr>
        <p:spPr>
          <a:xfrm>
            <a:off x="3840480" y="2194560"/>
            <a:ext cx="1463040" cy="0"/>
          </a:xfrm>
          <a:prstGeom prst="line">
            <a:avLst/>
          </a:prstGeom>
          <a:noFill/>
          <a:ln w="12700">
            <a:solidFill>
              <a:srgbClr val="E07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24688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A9A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 the agents work in real time.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371600" y="3200400"/>
            <a:ext cx="6400800" cy="640080"/>
          </a:xfrm>
          <a:prstGeom prst="rect">
            <a:avLst/>
          </a:prstGeom>
          <a:solidFill>
            <a:srgbClr val="1F1F33"/>
          </a:solidFill>
          <a:ln/>
        </p:spPr>
      </p:sp>
      <p:sp>
        <p:nvSpPr>
          <p:cNvPr id="6" name="Text 4"/>
          <p:cNvSpPr/>
          <p:nvPr/>
        </p:nvSpPr>
        <p:spPr>
          <a:xfrm>
            <a:off x="1554480" y="320040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1   </a:t>
            </a:r>
            <a:pPr indent="0" marL="0">
              <a:buNone/>
            </a:pPr>
            <a:r>
              <a:rPr lang="en-US" sz="1200" i="1" dirty="0">
                <a:solidFill>
                  <a:srgbClr val="EDE6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“Find investors, build a landing page, draft outreach emails.”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371600" y="3977640"/>
            <a:ext cx="6400800" cy="640080"/>
          </a:xfrm>
          <a:prstGeom prst="rect">
            <a:avLst/>
          </a:prstGeom>
          <a:solidFill>
            <a:srgbClr val="1F1F33"/>
          </a:solidFill>
          <a:ln/>
        </p:spPr>
      </p:sp>
      <p:sp>
        <p:nvSpPr>
          <p:cNvPr id="8" name="Text 6"/>
          <p:cNvSpPr/>
          <p:nvPr/>
        </p:nvSpPr>
        <p:spPr>
          <a:xfrm>
            <a:off x="1554480" y="397764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9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2   </a:t>
            </a:r>
            <a:pPr indent="0" marL="0">
              <a:buNone/>
            </a:pPr>
            <a:r>
              <a:rPr lang="en-US" sz="1200" i="1" dirty="0">
                <a:solidFill>
                  <a:srgbClr val="EDE6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“Call Veer and update him on what we accomplished today.”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massive markets.</a:t>
            </a:r>
            <a:endParaRPr lang="en-US" sz="3400" dirty="0"/>
          </a:p>
          <a:p>
            <a:pPr indent="0" marL="0">
              <a:buNone/>
            </a:pPr>
            <a:r>
              <a:rPr lang="en-US" sz="3400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sit at the intersection.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370332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16200000">
              <a:srgbClr val="000000">
                <a:alpha val="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65960"/>
            <a:ext cx="54864" cy="210312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103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Orchestration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24231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$8.5B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2926080" y="26060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31089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 $35B by 2030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97280" y="34747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1B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 ~42%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1965960"/>
            <a:ext cx="370332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16200000">
              <a:srgbClr val="000000">
                <a:alpha val="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965960"/>
            <a:ext cx="54864" cy="2103120"/>
          </a:xfrm>
          <a:prstGeom prst="rect">
            <a:avLst/>
          </a:prstGeom>
          <a:solidFill>
            <a:srgbClr val="4EADA1"/>
          </a:solidFill>
          <a:ln/>
        </p:spPr>
      </p:sp>
      <p:sp>
        <p:nvSpPr>
          <p:cNvPr id="13" name="Text 11"/>
          <p:cNvSpPr/>
          <p:nvPr/>
        </p:nvSpPr>
        <p:spPr>
          <a:xfrm>
            <a:off x="4983480" y="2103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EAD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Wearable Devices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83480" y="24231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$50B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6812280" y="26060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83480" y="31089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4EADA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 $200B+ by 2030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983480" y="34747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1B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 ~25%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011680" y="4297680"/>
            <a:ext cx="5120640" cy="5943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9" name="Text 17"/>
          <p:cNvSpPr/>
          <p:nvPr/>
        </p:nvSpPr>
        <p:spPr>
          <a:xfrm>
            <a:off x="2011680" y="429768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BF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Interstice = orchestration layer for wearable hardware.  No one else sits here.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81B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BF8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win every row.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2011680" cy="411480"/>
          </a:xfrm>
          <a:prstGeom prst="rect">
            <a:avLst/>
          </a:prstGeom>
          <a:solidFill>
            <a:srgbClr val="2A2A42"/>
          </a:solidFill>
          <a:ln/>
        </p:spPr>
      </p:sp>
      <p:sp>
        <p:nvSpPr>
          <p:cNvPr id="5" name="Shape 3"/>
          <p:cNvSpPr/>
          <p:nvPr/>
        </p:nvSpPr>
        <p:spPr>
          <a:xfrm>
            <a:off x="2651760" y="1463040"/>
            <a:ext cx="1920240" cy="411480"/>
          </a:xfrm>
          <a:prstGeom prst="rect">
            <a:avLst/>
          </a:prstGeom>
          <a:solidFill>
            <a:srgbClr val="2A2A42"/>
          </a:solidFill>
          <a:ln/>
        </p:spPr>
      </p:sp>
      <p:sp>
        <p:nvSpPr>
          <p:cNvPr id="6" name="Text 4"/>
          <p:cNvSpPr/>
          <p:nvPr/>
        </p:nvSpPr>
        <p:spPr>
          <a:xfrm>
            <a:off x="2651760" y="14630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/ Copilot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0" y="1463040"/>
            <a:ext cx="1920240" cy="411480"/>
          </a:xfrm>
          <a:prstGeom prst="rect">
            <a:avLst/>
          </a:prstGeom>
          <a:solidFill>
            <a:srgbClr val="2A2A42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0" y="14630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CrewAI / LangChain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92240" y="1463040"/>
            <a:ext cx="2011680" cy="411480"/>
          </a:xfrm>
          <a:prstGeom prst="rect">
            <a:avLst/>
          </a:prstGeom>
          <a:solidFill>
            <a:srgbClr val="81B29A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1463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Interstice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1920240"/>
            <a:ext cx="2011680" cy="411480"/>
          </a:xfrm>
          <a:prstGeom prst="rect">
            <a:avLst/>
          </a:prstGeom>
          <a:solidFill>
            <a:srgbClr val="1E1E34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19202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BF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Memory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651760" y="1920240"/>
            <a:ext cx="1920240" cy="411480"/>
          </a:xfrm>
          <a:prstGeom prst="rect">
            <a:avLst/>
          </a:prstGeom>
          <a:solidFill>
            <a:srgbClr val="1E1E34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0" y="19202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only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0" y="1920240"/>
            <a:ext cx="1920240" cy="411480"/>
          </a:xfrm>
          <a:prstGeom prst="rect">
            <a:avLst/>
          </a:prstGeom>
          <a:solidFill>
            <a:srgbClr val="1E1E34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19202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API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92240" y="1920240"/>
            <a:ext cx="2011680" cy="411480"/>
          </a:xfrm>
          <a:prstGeom prst="rect">
            <a:avLst/>
          </a:prstGeom>
          <a:solidFill>
            <a:srgbClr val="1A3328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0" y="19202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1B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--resume sessions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" y="2359152"/>
            <a:ext cx="2011680" cy="411480"/>
          </a:xfrm>
          <a:prstGeom prst="rect">
            <a:avLst/>
          </a:prstGeom>
          <a:solidFill>
            <a:srgbClr val="232340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235915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BF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Inter-Agent Comms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651760" y="2359152"/>
            <a:ext cx="1920240" cy="411480"/>
          </a:xfrm>
          <a:prstGeom prst="rect">
            <a:avLst/>
          </a:prstGeom>
          <a:solidFill>
            <a:srgbClr val="232340"/>
          </a:solidFill>
          <a:ln/>
        </p:spPr>
      </p:sp>
      <p:sp>
        <p:nvSpPr>
          <p:cNvPr id="22" name="Text 20"/>
          <p:cNvSpPr/>
          <p:nvPr/>
        </p:nvSpPr>
        <p:spPr>
          <a:xfrm>
            <a:off x="2743200" y="235915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agent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0" y="2359152"/>
            <a:ext cx="1920240" cy="411480"/>
          </a:xfrm>
          <a:prstGeom prst="rect">
            <a:avLst/>
          </a:prstGeom>
          <a:solidFill>
            <a:srgbClr val="232340"/>
          </a:solidFill>
          <a:ln/>
        </p:spPr>
      </p:sp>
      <p:sp>
        <p:nvSpPr>
          <p:cNvPr id="24" name="Text 22"/>
          <p:cNvSpPr/>
          <p:nvPr/>
        </p:nvSpPr>
        <p:spPr>
          <a:xfrm>
            <a:off x="4663440" y="235915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handoff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92240" y="2359152"/>
            <a:ext cx="2011680" cy="411480"/>
          </a:xfrm>
          <a:prstGeom prst="rect">
            <a:avLst/>
          </a:prstGeom>
          <a:solidFill>
            <a:srgbClr val="1A3328"/>
          </a:solidFill>
          <a:ln/>
        </p:spPr>
      </p:sp>
      <p:sp>
        <p:nvSpPr>
          <p:cNvPr id="26" name="Text 24"/>
          <p:cNvSpPr/>
          <p:nvPr/>
        </p:nvSpPr>
        <p:spPr>
          <a:xfrm>
            <a:off x="6583680" y="235915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1B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Real-time msg bus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40080" y="2798064"/>
            <a:ext cx="2011680" cy="411480"/>
          </a:xfrm>
          <a:prstGeom prst="rect">
            <a:avLst/>
          </a:prstGeom>
          <a:solidFill>
            <a:srgbClr val="1E1E34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2798064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BF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Work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651760" y="2798064"/>
            <a:ext cx="1920240" cy="411480"/>
          </a:xfrm>
          <a:prstGeom prst="rect">
            <a:avLst/>
          </a:prstGeom>
          <a:solidFill>
            <a:srgbClr val="1E1E34"/>
          </a:solidFill>
          <a:ln/>
        </p:spPr>
      </p:sp>
      <p:sp>
        <p:nvSpPr>
          <p:cNvPr id="30" name="Text 28"/>
          <p:cNvSpPr/>
          <p:nvPr/>
        </p:nvSpPr>
        <p:spPr>
          <a:xfrm>
            <a:off x="2743200" y="2798064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open required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0" y="2798064"/>
            <a:ext cx="1920240" cy="411480"/>
          </a:xfrm>
          <a:prstGeom prst="rect">
            <a:avLst/>
          </a:prstGeom>
          <a:solidFill>
            <a:srgbClr val="1E1E34"/>
          </a:solidFill>
          <a:ln/>
        </p:spPr>
      </p:sp>
      <p:sp>
        <p:nvSpPr>
          <p:cNvPr id="32" name="Text 30"/>
          <p:cNvSpPr/>
          <p:nvPr/>
        </p:nvSpPr>
        <p:spPr>
          <a:xfrm>
            <a:off x="4663440" y="2798064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Script-based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492240" y="2798064"/>
            <a:ext cx="2011680" cy="411480"/>
          </a:xfrm>
          <a:prstGeom prst="rect">
            <a:avLst/>
          </a:prstGeom>
          <a:solidFill>
            <a:srgbClr val="1A3328"/>
          </a:solidFill>
          <a:ln/>
        </p:spPr>
      </p:sp>
      <p:sp>
        <p:nvSpPr>
          <p:cNvPr id="34" name="Text 32"/>
          <p:cNvSpPr/>
          <p:nvPr/>
        </p:nvSpPr>
        <p:spPr>
          <a:xfrm>
            <a:off x="6583680" y="2798064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1B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Heartbeat scheduler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40080" y="3236976"/>
            <a:ext cx="2011680" cy="411480"/>
          </a:xfrm>
          <a:prstGeom prst="rect">
            <a:avLst/>
          </a:prstGeom>
          <a:solidFill>
            <a:srgbClr val="232340"/>
          </a:solidFill>
          <a:ln/>
        </p:spPr>
      </p:sp>
      <p:sp>
        <p:nvSpPr>
          <p:cNvPr id="36" name="Text 34"/>
          <p:cNvSpPr/>
          <p:nvPr/>
        </p:nvSpPr>
        <p:spPr>
          <a:xfrm>
            <a:off x="731520" y="3236976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BF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651760" y="3236976"/>
            <a:ext cx="1920240" cy="411480"/>
          </a:xfrm>
          <a:prstGeom prst="rect">
            <a:avLst/>
          </a:prstGeom>
          <a:solidFill>
            <a:srgbClr val="232340"/>
          </a:solidFill>
          <a:ln/>
        </p:spPr>
      </p:sp>
      <p:sp>
        <p:nvSpPr>
          <p:cNvPr id="38" name="Text 36"/>
          <p:cNvSpPr/>
          <p:nvPr/>
        </p:nvSpPr>
        <p:spPr>
          <a:xfrm>
            <a:off x="2743200" y="3236976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or never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572000" y="3236976"/>
            <a:ext cx="1920240" cy="411480"/>
          </a:xfrm>
          <a:prstGeom prst="rect">
            <a:avLst/>
          </a:prstGeom>
          <a:solidFill>
            <a:srgbClr val="232340"/>
          </a:solidFill>
          <a:ln/>
        </p:spPr>
      </p:sp>
      <p:sp>
        <p:nvSpPr>
          <p:cNvPr id="40" name="Text 38"/>
          <p:cNvSpPr/>
          <p:nvPr/>
        </p:nvSpPr>
        <p:spPr>
          <a:xfrm>
            <a:off x="4663440" y="3236976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gates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492240" y="3236976"/>
            <a:ext cx="2011680" cy="411480"/>
          </a:xfrm>
          <a:prstGeom prst="rect">
            <a:avLst/>
          </a:prstGeom>
          <a:solidFill>
            <a:srgbClr val="1A3328"/>
          </a:solidFill>
          <a:ln/>
        </p:spPr>
      </p:sp>
      <p:sp>
        <p:nvSpPr>
          <p:cNvPr id="42" name="Text 40"/>
          <p:cNvSpPr/>
          <p:nvPr/>
        </p:nvSpPr>
        <p:spPr>
          <a:xfrm>
            <a:off x="6583680" y="3236976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1B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Approval + voice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40080" y="3675888"/>
            <a:ext cx="2011680" cy="411480"/>
          </a:xfrm>
          <a:prstGeom prst="rect">
            <a:avLst/>
          </a:prstGeom>
          <a:solidFill>
            <a:srgbClr val="1E1E34"/>
          </a:solidFill>
          <a:ln/>
        </p:spPr>
      </p:sp>
      <p:sp>
        <p:nvSpPr>
          <p:cNvPr id="44" name="Text 42"/>
          <p:cNvSpPr/>
          <p:nvPr/>
        </p:nvSpPr>
        <p:spPr>
          <a:xfrm>
            <a:off x="731520" y="367588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BF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2651760" y="3675888"/>
            <a:ext cx="1920240" cy="411480"/>
          </a:xfrm>
          <a:prstGeom prst="rect">
            <a:avLst/>
          </a:prstGeom>
          <a:solidFill>
            <a:srgbClr val="1E1E34"/>
          </a:solidFill>
          <a:ln/>
        </p:spPr>
      </p:sp>
      <p:sp>
        <p:nvSpPr>
          <p:cNvPr id="46" name="Text 44"/>
          <p:cNvSpPr/>
          <p:nvPr/>
        </p:nvSpPr>
        <p:spPr>
          <a:xfrm>
            <a:off x="2743200" y="367588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572000" y="3675888"/>
            <a:ext cx="1920240" cy="411480"/>
          </a:xfrm>
          <a:prstGeom prst="rect">
            <a:avLst/>
          </a:prstGeom>
          <a:solidFill>
            <a:srgbClr val="1E1E34"/>
          </a:solidFill>
          <a:ln/>
        </p:spPr>
      </p:sp>
      <p:sp>
        <p:nvSpPr>
          <p:cNvPr id="48" name="Text 46"/>
          <p:cNvSpPr/>
          <p:nvPr/>
        </p:nvSpPr>
        <p:spPr>
          <a:xfrm>
            <a:off x="4663440" y="367588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492240" y="3675888"/>
            <a:ext cx="2011680" cy="411480"/>
          </a:xfrm>
          <a:prstGeom prst="rect">
            <a:avLst/>
          </a:prstGeom>
          <a:solidFill>
            <a:srgbClr val="1A3328"/>
          </a:solidFill>
          <a:ln/>
        </p:spPr>
      </p:sp>
      <p:sp>
        <p:nvSpPr>
          <p:cNvPr id="50" name="Text 48"/>
          <p:cNvSpPr/>
          <p:nvPr/>
        </p:nvSpPr>
        <p:spPr>
          <a:xfrm>
            <a:off x="6583680" y="367588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1B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OMI wearable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40080" y="4114800"/>
            <a:ext cx="2011680" cy="411480"/>
          </a:xfrm>
          <a:prstGeom prst="rect">
            <a:avLst/>
          </a:prstGeom>
          <a:solidFill>
            <a:srgbClr val="232340"/>
          </a:solidFill>
          <a:ln/>
        </p:spPr>
      </p:sp>
      <p:sp>
        <p:nvSpPr>
          <p:cNvPr id="52" name="Text 50"/>
          <p:cNvSpPr/>
          <p:nvPr/>
        </p:nvSpPr>
        <p:spPr>
          <a:xfrm>
            <a:off x="731520" y="41148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BF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2651760" y="4114800"/>
            <a:ext cx="1920240" cy="411480"/>
          </a:xfrm>
          <a:prstGeom prst="rect">
            <a:avLst/>
          </a:prstGeom>
          <a:solidFill>
            <a:srgbClr val="232340"/>
          </a:solidFill>
          <a:ln/>
        </p:spPr>
      </p:sp>
      <p:sp>
        <p:nvSpPr>
          <p:cNvPr id="54" name="Text 52"/>
          <p:cNvSpPr/>
          <p:nvPr/>
        </p:nvSpPr>
        <p:spPr>
          <a:xfrm>
            <a:off x="2743200" y="41148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Resets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572000" y="4114800"/>
            <a:ext cx="1920240" cy="411480"/>
          </a:xfrm>
          <a:prstGeom prst="rect">
            <a:avLst/>
          </a:prstGeom>
          <a:solidFill>
            <a:srgbClr val="232340"/>
          </a:solidFill>
          <a:ln/>
        </p:spPr>
      </p:sp>
      <p:sp>
        <p:nvSpPr>
          <p:cNvPr id="56" name="Text 54"/>
          <p:cNvSpPr/>
          <p:nvPr/>
        </p:nvSpPr>
        <p:spPr>
          <a:xfrm>
            <a:off x="4663440" y="41148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Resets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6492240" y="4114800"/>
            <a:ext cx="2011680" cy="411480"/>
          </a:xfrm>
          <a:prstGeom prst="rect">
            <a:avLst/>
          </a:prstGeom>
          <a:solidFill>
            <a:srgbClr val="1A3328"/>
          </a:solidFill>
          <a:ln/>
        </p:spPr>
      </p:sp>
      <p:sp>
        <p:nvSpPr>
          <p:cNvPr id="58" name="Text 56"/>
          <p:cNvSpPr/>
          <p:nvPr/>
        </p:nvSpPr>
        <p:spPr>
          <a:xfrm>
            <a:off x="6583680" y="41148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1B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Compounds daily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people. One AI company</a:t>
            </a:r>
            <a:endParaRPr lang="en-US" sz="3400" dirty="0"/>
          </a:p>
          <a:p>
            <a:pPr indent="0" marL="0">
              <a:buNone/>
            </a:pPr>
            <a:r>
              <a:rPr lang="en-US" sz="3400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running autonomously.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3703320" cy="2651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16200000">
              <a:srgbClr val="000000">
                <a:alpha val="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65960"/>
            <a:ext cx="54864" cy="2651760"/>
          </a:xfrm>
          <a:prstGeom prst="rect">
            <a:avLst/>
          </a:prstGeom>
          <a:solidFill>
            <a:srgbClr val="81B29A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1031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Veer Saraf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97280" y="2468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1B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2834640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the entire system in 24 hours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CLI subprocess runner w/ session persistence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Convex real-time backend + heartbeat scheduler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Inter-agent message bus architecture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Perplexity, ElevenLabs, OMI, Twilio integrations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1965960"/>
            <a:ext cx="3703320" cy="2651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16200000">
              <a:srgbClr val="000000">
                <a:alpha val="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965960"/>
            <a:ext cx="54864" cy="265176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11" name="Text 9"/>
          <p:cNvSpPr/>
          <p:nvPr/>
        </p:nvSpPr>
        <p:spPr>
          <a:xfrm>
            <a:off x="4983480" y="21031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Varun Kalvakota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983480" y="2468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&amp; Pitch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83480" y="2834640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positioning &amp; market strategy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analysis &amp; moat identification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 &amp; customer segmentation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design &amp; demo narrative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voice you’re hearing right now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47548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9A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That’s the proof of concept — two people running an AI-powered company.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FBF8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</a:t>
            </a:r>
            <a:pPr algn="ctr" indent="0" marL="0">
              <a:buNone/>
            </a:pPr>
            <a:r>
              <a:rPr lang="en-US" sz="6400" i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stice</a:t>
            </a:r>
            <a:endParaRPr lang="en-US" sz="6400" dirty="0"/>
          </a:p>
        </p:txBody>
      </p:sp>
      <p:sp>
        <p:nvSpPr>
          <p:cNvPr id="3" name="Shape 1"/>
          <p:cNvSpPr/>
          <p:nvPr/>
        </p:nvSpPr>
        <p:spPr>
          <a:xfrm>
            <a:off x="3840480" y="2148840"/>
            <a:ext cx="1463040" cy="0"/>
          </a:xfrm>
          <a:prstGeom prst="line">
            <a:avLst/>
          </a:prstGeom>
          <a:noFill/>
          <a:ln w="12700">
            <a:solidFill>
              <a:srgbClr val="E07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0" y="242316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EDE6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space between what you want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i="1" dirty="0">
                <a:solidFill>
                  <a:srgbClr val="EDE6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what gets done.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0" y="32918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BF8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filled it.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0" y="420624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OMI  ·  Perplexity Agent API  ·  ElevenLabs  ·  Convex  ·  Claude  ·  Twilio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0" y="457200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Varun Kalvakota  &amp;  Veer Saraf  ·  HackHayward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Interstice — Your AI Company, On Your Wrist</dc:title>
  <dc:subject>PptxGenJS Presentation</dc:subject>
  <dc:creator>Varun Kalvakota &amp; Veer Saraf</dc:creator>
  <cp:lastModifiedBy>Varun Kalvakota &amp; Veer Saraf</cp:lastModifiedBy>
  <cp:revision>1</cp:revision>
  <dcterms:created xsi:type="dcterms:W3CDTF">2026-03-22T10:44:42Z</dcterms:created>
  <dcterms:modified xsi:type="dcterms:W3CDTF">2026-03-22T10:44:42Z</dcterms:modified>
</cp:coreProperties>
</file>