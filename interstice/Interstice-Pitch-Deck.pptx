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spc="8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INTERSTICE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AI Company, On Your Wrist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926080"/>
            <a:ext cx="2286000" cy="0"/>
          </a:xfrm>
          <a:prstGeom prst="line">
            <a:avLst/>
          </a:prstGeom>
          <a:noFill/>
          <a:ln w="25400">
            <a:solidFill>
              <a:srgbClr val="58A6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32004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 into your wrist. A team of AI agents that remember,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communicate, and evolve handles the rest.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4206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Varun Kalvakota</a:t>
            </a:r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Strategy &amp; Pitch</a:t>
            </a:r>
            <a:pPr indent="0" marL="0">
              <a:buNone/>
            </a:pPr>
            <a:r>
              <a:rPr lang="en-US" sz="13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|   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Veer Saraf</a:t>
            </a:r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Engineering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46634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HackHayward 2026  |  AI-Driven Entrepreneurship Track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7816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78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Solopreneurs do 5 jobs.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tools still make you the bottleneck.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7680960" cy="4114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28600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78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71600" y="22860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017520" y="228600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Google, read 20 tabs, summarize yourself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2788920"/>
            <a:ext cx="7680960" cy="4114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278892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78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371600" y="27889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Outreach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017520" y="278892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draft every email, personalize each one manually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31520" y="3291840"/>
            <a:ext cx="7680960" cy="4114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329184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78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371600" y="329184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017520" y="329184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build landing pages, write copy, deploy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31520" y="3794760"/>
            <a:ext cx="7680960" cy="4114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8" name="Text 16"/>
          <p:cNvSpPr/>
          <p:nvPr/>
        </p:nvSpPr>
        <p:spPr>
          <a:xfrm>
            <a:off x="868680" y="37947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78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371600" y="37947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017520" y="379476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make every follow-up call personally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31520" y="4297680"/>
            <a:ext cx="7680960" cy="4114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429768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78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371600" y="42976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Coordination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017520" y="42976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are the glue holding it all together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31520" y="45720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78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AI tool replaced the keyboard with a chatbox</a:t>
            </a: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F78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kept the bottleneck: YOU.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Speak. Delegate. Done.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1554480" cy="201168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101600" dist="38100" dir="16200000">
              <a:srgbClr val="000000">
                <a:alpha val="4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737360"/>
            <a:ext cx="1554480" cy="54864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87452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58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48640" y="23317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SPEAK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269748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command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OMI wearable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965960" y="237744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84F58"/>
                </a:solidFill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2194560" y="1737360"/>
            <a:ext cx="1554480" cy="201168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101600" dist="38100" dir="16200000">
              <a:srgbClr val="000000">
                <a:alpha val="4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194560" y="1737360"/>
            <a:ext cx="1554480" cy="54864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13" name="Text 11"/>
          <p:cNvSpPr/>
          <p:nvPr/>
        </p:nvSpPr>
        <p:spPr>
          <a:xfrm>
            <a:off x="2194560" y="187452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3FB95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2286000" y="23317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CEO HEARS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286000" y="269748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CEO decomposes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subtasks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703320" y="237744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84F58"/>
                </a:solidFill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3931920" y="1737360"/>
            <a:ext cx="1554480" cy="201168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101600" dist="38100" dir="16200000">
              <a:srgbClr val="000000">
                <a:alpha val="4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931920" y="1737360"/>
            <a:ext cx="1554480" cy="54864"/>
          </a:xfrm>
          <a:prstGeom prst="rect">
            <a:avLst/>
          </a:prstGeom>
          <a:solidFill>
            <a:srgbClr val="F78166"/>
          </a:solidFill>
          <a:ln/>
        </p:spPr>
      </p:sp>
      <p:sp>
        <p:nvSpPr>
          <p:cNvPr id="19" name="Text 17"/>
          <p:cNvSpPr/>
          <p:nvPr/>
        </p:nvSpPr>
        <p:spPr>
          <a:xfrm>
            <a:off x="3931920" y="187452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781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4023360" y="23317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RUN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023360" y="269748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Research, Comms, Dev,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execute in parallel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40680" y="237744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84F58"/>
                </a:solidFill>
              </a:rPr>
              <a:t>→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5669280" y="1737360"/>
            <a:ext cx="1554480" cy="201168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101600" dist="38100" dir="16200000">
              <a:srgbClr val="000000">
                <a:alpha val="4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669280" y="1737360"/>
            <a:ext cx="1554480" cy="54864"/>
          </a:xfrm>
          <a:prstGeom prst="rect">
            <a:avLst/>
          </a:prstGeom>
          <a:solidFill>
            <a:srgbClr val="D2A8FF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0" y="187452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D2A8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5760720" y="23317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TALK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760720" y="269748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share findings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collaborate mid-task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178040" y="237744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84F58"/>
                </a:solidFill>
              </a:rPr>
              <a:t>→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7406640" y="1737360"/>
            <a:ext cx="1554480" cy="201168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101600" dist="38100" dir="16200000">
              <a:srgbClr val="000000">
                <a:alpha val="4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406640" y="1737360"/>
            <a:ext cx="1554480" cy="54864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31" name="Text 29"/>
          <p:cNvSpPr/>
          <p:nvPr/>
        </p:nvSpPr>
        <p:spPr>
          <a:xfrm>
            <a:off x="7406640" y="187452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58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2800" dirty="0"/>
          </a:p>
        </p:txBody>
      </p:sp>
      <p:sp>
        <p:nvSpPr>
          <p:cNvPr id="32" name="Text 30"/>
          <p:cNvSpPr/>
          <p:nvPr/>
        </p:nvSpPr>
        <p:spPr>
          <a:xfrm>
            <a:off x="7498080" y="23317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CEO REPORTS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498080" y="269748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Synthesized result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to your wrist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31520" y="41148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chatbot wrapper. A real AI company with an org chart, memory, and delegation.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731520" y="466344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with: OMI  •  Perplexity Agent API  •  ElevenLabs Conversational AI  •  Convex  •  Claude CLI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2A8F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D2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ISN'T AN API CALL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731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moats that make Interstice a company, not a wrapper.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31520" y="1371600"/>
            <a:ext cx="64008" cy="594360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6" name="Shape 4"/>
          <p:cNvSpPr/>
          <p:nvPr/>
        </p:nvSpPr>
        <p:spPr>
          <a:xfrm>
            <a:off x="795528" y="1371600"/>
            <a:ext cx="7616952" cy="59436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137160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463040" y="137160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Agent Sessions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114800" y="1371600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resume via --resume. They remember everything. No context re-stuffing.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31520" y="2084832"/>
            <a:ext cx="64008" cy="59436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11" name="Shape 9"/>
          <p:cNvSpPr/>
          <p:nvPr/>
        </p:nvSpPr>
        <p:spPr>
          <a:xfrm>
            <a:off x="795528" y="2084832"/>
            <a:ext cx="7616952" cy="59436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2" name="Text 10"/>
          <p:cNvSpPr/>
          <p:nvPr/>
        </p:nvSpPr>
        <p:spPr>
          <a:xfrm>
            <a:off x="960120" y="2084832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463040" y="2084832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Inter-Agent Communication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114800" y="2084832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message bus. Research feeds Dev and Comms mid-task. They collaborate.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31520" y="2798064"/>
            <a:ext cx="64008" cy="594360"/>
          </a:xfrm>
          <a:prstGeom prst="rect">
            <a:avLst/>
          </a:prstGeom>
          <a:solidFill>
            <a:srgbClr val="F78166"/>
          </a:solidFill>
          <a:ln/>
        </p:spPr>
      </p:sp>
      <p:sp>
        <p:nvSpPr>
          <p:cNvPr id="16" name="Shape 14"/>
          <p:cNvSpPr/>
          <p:nvPr/>
        </p:nvSpPr>
        <p:spPr>
          <a:xfrm>
            <a:off x="795528" y="2798064"/>
            <a:ext cx="7616952" cy="59436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7" name="Text 15"/>
          <p:cNvSpPr/>
          <p:nvPr/>
        </p:nvSpPr>
        <p:spPr>
          <a:xfrm>
            <a:off x="960120" y="2798064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8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463040" y="2798064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4-Layer Memory System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114800" y="2798064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memory, contacts, per-agent memory, shared findings. Gets smarter daily.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31520" y="3511296"/>
            <a:ext cx="64008" cy="594360"/>
          </a:xfrm>
          <a:prstGeom prst="rect">
            <a:avLst/>
          </a:prstGeom>
          <a:solidFill>
            <a:srgbClr val="D2A8FF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" y="3511296"/>
            <a:ext cx="7616952" cy="59436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2" name="Text 20"/>
          <p:cNvSpPr/>
          <p:nvPr/>
        </p:nvSpPr>
        <p:spPr>
          <a:xfrm>
            <a:off x="960120" y="3511296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2A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463040" y="3511296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Execution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114800" y="3511296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Heartbeat scheduler + approval gates. Agents work while you live. Interrupt for decisions only.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31520" y="4224528"/>
            <a:ext cx="64008" cy="594360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26" name="Shape 24"/>
          <p:cNvSpPr/>
          <p:nvPr/>
        </p:nvSpPr>
        <p:spPr>
          <a:xfrm>
            <a:off x="795528" y="4224528"/>
            <a:ext cx="7616952" cy="59436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7" name="Text 25"/>
          <p:cNvSpPr/>
          <p:nvPr/>
        </p:nvSpPr>
        <p:spPr>
          <a:xfrm>
            <a:off x="960120" y="4224528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463040" y="4224528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Wearable-Native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114800" y="4224528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OMI in, OMI out. Run your company from your wrist. No screen required.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731520" y="466344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D2A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judging criteria literally asks: "Is it more than a basic API call?" This is our answer.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7816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78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6858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company brain that never forgets.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371600"/>
            <a:ext cx="3840480" cy="146304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101600" dist="38100" dir="16200000">
              <a:srgbClr val="000000">
                <a:alpha val="4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371600"/>
            <a:ext cx="3840480" cy="54864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5087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Memory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182880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file all agents read/write.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Identity, decisions, activity log.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"Email Veer about today" —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already knows what happened.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0" y="1371600"/>
            <a:ext cx="3840480" cy="146304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101600" dist="38100" dir="16200000">
              <a:srgbClr val="000000">
                <a:alpha val="4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371600"/>
            <a:ext cx="3840480" cy="54864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0" y="15087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 Memory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37760" y="182880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that builds itself from voice.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Names, numbers, emails, last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interaction. Say a name, it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knows who they are.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31520" y="3017520"/>
            <a:ext cx="3840480" cy="146304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101600" dist="38100" dir="16200000">
              <a:srgbClr val="000000">
                <a:alpha val="4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31520" y="3017520"/>
            <a:ext cx="3840480" cy="54864"/>
          </a:xfrm>
          <a:prstGeom prst="rect">
            <a:avLst/>
          </a:prstGeom>
          <a:solidFill>
            <a:srgbClr val="F78166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1546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8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Per-Agent Memory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14400" y="347472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agent remembers via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--resume sessions. Research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knows your market. Comms knows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voice. Dev knows your stack.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754880" y="3017520"/>
            <a:ext cx="3840480" cy="146304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101600" dist="38100" dir="16200000">
              <a:srgbClr val="000000">
                <a:alpha val="4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017520"/>
            <a:ext cx="3840480" cy="54864"/>
          </a:xfrm>
          <a:prstGeom prst="rect">
            <a:avLst/>
          </a:prstGeom>
          <a:solidFill>
            <a:srgbClr val="D2A8FF"/>
          </a:solidFill>
          <a:ln/>
        </p:spPr>
      </p:sp>
      <p:sp>
        <p:nvSpPr>
          <p:cNvPr id="19" name="Text 17"/>
          <p:cNvSpPr/>
          <p:nvPr/>
        </p:nvSpPr>
        <p:spPr>
          <a:xfrm>
            <a:off x="4937760" y="31546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2A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Findings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937760" y="347472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posts to a shared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channel. Every agent reads it.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Competitor raises $50M? The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entire company knows in seconds.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31520" y="466344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78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company gets smarter every day without retraining."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0808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2080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POWERED BY PERPLEXITY AGENT API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731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basic search. Autonomous research missions.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371600"/>
            <a:ext cx="3840480" cy="320040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101600" dist="38100" dir="16200000">
              <a:srgbClr val="000000">
                <a:alpha val="4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14630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80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Our Research Agent Does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1874520"/>
            <a:ext cx="3474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C9D1D9"/>
                </a:solidFill>
              </a:rPr>
              <a:t>Agent API endpoint (/v1/agent)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C9D1D9"/>
                </a:solidFill>
              </a:rPr>
              <a:t>Deep Research preset: 10 autonomous steps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C9D1D9"/>
                </a:solidFill>
              </a:rPr>
              <a:t>Structured JSON outputs (schema-enforced)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C9D1D9"/>
                </a:solidFill>
              </a:rPr>
              <a:t>Domain filtering (Crunchbase, LinkedIn, PitchBook)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C9D1D9"/>
                </a:solidFill>
              </a:rPr>
              <a:t>web_search + fetch_url built-in tools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C9D1D9"/>
                </a:solidFill>
              </a:rPr>
              <a:t>Multi-model routing (Claude Opus, GPT-5, Grok)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C9D1D9"/>
                </a:solidFill>
              </a:rPr>
              <a:t>Results fed to Comms &amp; Dev agents as structured data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754880" y="1371600"/>
            <a:ext cx="3840480" cy="320040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101600" dist="38100" dir="16200000">
              <a:srgbClr val="000000">
                <a:alpha val="4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937760" y="14630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80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In Practice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37760" y="19202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080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303520" y="19202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"Find 10 AI wearable investors in the Bay Area"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937760" y="230428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080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303520" y="23042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API triggers deep-research (10 autonomous steps)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937760" y="2688336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080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303520" y="2688336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Searches Crunchbase, LinkedIn — reads full pages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937760" y="3072384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080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303520" y="3072384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structured JSON: name, firm, email, relevance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937760" y="345643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080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303520" y="345643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Comms Agent reads JSON → drafts 10 personalized emails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937760" y="38404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080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303520" y="38404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gates → you approve each send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080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search. An autonomous research department powered by Perplexity.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POWERED BY ELEVENLABS CONVERSATIONAL AI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731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text-to-speech. Real AI phone calls.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371600"/>
            <a:ext cx="3840480" cy="274320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101600" dist="38100" dir="16200000">
              <a:srgbClr val="000000">
                <a:alpha val="4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14630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Agent Capabilities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1874520"/>
            <a:ext cx="3474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C9D1D9"/>
                </a:solidFill>
              </a:rPr>
              <a:t>Conversational AI 2.0 — not scripted TTS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C9D1D9"/>
                </a:solidFill>
              </a:rPr>
              <a:t>Native Twilio integration for real outbound calls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C9D1D9"/>
                </a:solidFill>
              </a:rPr>
              <a:t>Sub-100ms turn-taking — natural conversation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C9D1D9"/>
                </a:solidFill>
              </a:rPr>
              <a:t>Server tools: queries Convex mid-call for context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C9D1D9"/>
                </a:solidFill>
              </a:rPr>
              <a:t>Reads from company memory during live calls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C9D1D9"/>
                </a:solidFill>
              </a:rPr>
              <a:t>32+ language auto-detection mid-conversation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754880" y="1371600"/>
            <a:ext cx="3840480" cy="274320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101600" dist="38100" dir="16200000">
              <a:srgbClr val="000000">
                <a:alpha val="4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937760" y="14630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 Moment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37760" y="192024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"Call Veer and give him a</a:t>
            </a: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update on what we</a:t>
            </a: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accomplished today."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37760" y="2834640"/>
            <a:ext cx="3474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C9D1D9"/>
                </a:solidFill>
              </a:rPr>
              <a:t>Call Agent reads company memory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C9D1D9"/>
                </a:solidFill>
              </a:rPr>
              <a:t>Generates contextual call script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C9D1D9"/>
                </a:solidFill>
              </a:rPr>
              <a:t>Approval card → you approve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C9D1D9"/>
                </a:solidFill>
              </a:rPr>
              <a:t>Real phone rings. Real conversation.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C9D1D9"/>
                </a:solidFill>
              </a:rPr>
              <a:t>Transcript streams live on dashboard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429768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phone call, mid-demo. Powered by ElevenLabs + Twilio.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37160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spc="10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LIVE DEMO</a:t>
            </a:r>
            <a:endParaRPr lang="en-US" sz="6000" dirty="0"/>
          </a:p>
        </p:txBody>
      </p:sp>
      <p:sp>
        <p:nvSpPr>
          <p:cNvPr id="3" name="Shape 1"/>
          <p:cNvSpPr/>
          <p:nvPr/>
        </p:nvSpPr>
        <p:spPr>
          <a:xfrm>
            <a:off x="3200400" y="2606040"/>
            <a:ext cx="2743200" cy="0"/>
          </a:xfrm>
          <a:prstGeom prst="line">
            <a:avLst/>
          </a:prstGeom>
          <a:noFill/>
          <a:ln w="254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0" y="28346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the agents work in real time.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371600" y="347472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1: </a:t>
            </a:r>
            <a:pPr algn="ctr" indent="0" marL="0">
              <a:buNone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"Find investors, build a landing page, draft outreach emails."</a:t>
            </a:r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2: </a:t>
            </a:r>
            <a:pPr algn="ctr" indent="0" marL="0">
              <a:buNone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"Call Veer and update him on what we accomplished today."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58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OPPORTUNITY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731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massive markets. We sit at the intersection.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463040"/>
            <a:ext cx="3840480" cy="228600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101600" dist="38100" dir="16200000">
              <a:srgbClr val="000000">
                <a:alpha val="4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463040"/>
            <a:ext cx="3840480" cy="54864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6002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 Orchestration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19659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$8.5B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2743200" y="21488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26060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8A6FF"/>
                </a:solidFill>
              </a:rPr>
              <a:t>→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371600" y="26060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58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$35B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3108960" y="26974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2030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14400" y="3108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CAGR ~42%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754880" y="1463040"/>
            <a:ext cx="3840480" cy="228600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101600" dist="38100" dir="16200000">
              <a:srgbClr val="000000">
                <a:alpha val="4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54880" y="1463040"/>
            <a:ext cx="3840480" cy="54864"/>
          </a:xfrm>
          <a:prstGeom prst="rect">
            <a:avLst/>
          </a:prstGeom>
          <a:solidFill>
            <a:srgbClr val="F78166"/>
          </a:solidFill>
          <a:ln/>
        </p:spPr>
      </p:sp>
      <p:sp>
        <p:nvSpPr>
          <p:cNvPr id="16" name="Text 14"/>
          <p:cNvSpPr/>
          <p:nvPr/>
        </p:nvSpPr>
        <p:spPr>
          <a:xfrm>
            <a:off x="4937760" y="16002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8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Wearable Devices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937760" y="19659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$50B</a:t>
            </a:r>
            <a:endParaRPr lang="en-US" sz="4200" dirty="0"/>
          </a:p>
        </p:txBody>
      </p:sp>
      <p:sp>
        <p:nvSpPr>
          <p:cNvPr id="18" name="Text 16"/>
          <p:cNvSpPr/>
          <p:nvPr/>
        </p:nvSpPr>
        <p:spPr>
          <a:xfrm>
            <a:off x="6766560" y="21488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937760" y="26060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78166"/>
                </a:solidFill>
              </a:rPr>
              <a:t>→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394960" y="26060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781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$200B+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7223760" y="26974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2030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937760" y="3108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CAGR ~25%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286000" y="4023360"/>
            <a:ext cx="4572000" cy="731520"/>
          </a:xfrm>
          <a:prstGeom prst="rect">
            <a:avLst/>
          </a:prstGeom>
          <a:solidFill>
            <a:srgbClr val="1C2333"/>
          </a:solidFill>
          <a:ln/>
          <a:effectLst>
            <a:outerShdw sx="100000" sy="100000" kx="0" ky="0" algn="bl" rotWithShape="0" blurRad="101600" dist="38100" dir="16200000">
              <a:srgbClr val="000000">
                <a:alpha val="4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2286000" y="402336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Interstice = AI orchestration layer for wearable hardware.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one else sits here.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58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LANDSCAPE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3840480"/>
        </p:xfrm>
        <a:graphic>
          <a:graphicData uri="http://schemas.openxmlformats.org/drawingml/2006/table">
            <a:tbl>
              <a:tblPr/>
              <a:tblGrid>
                <a:gridCol w="2011680"/>
                <a:gridCol w="2011680"/>
                <a:gridCol w="2011680"/>
                <a:gridCol w="21945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8A6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3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8A6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ChatGPT / Copilot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3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8A6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CrewAI / LangChain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3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FB9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Interstice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33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Persistent Memory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84F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 only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84F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Stateless API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FB9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--resume sessions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81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Inter-Agent Comms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84F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agent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84F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Basic handoff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FB9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Real-time message bus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81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Background Work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84F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 must be open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84F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Script-based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FB9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Heartbeat scheduler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81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Human-in-the-Loop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84F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 or never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84F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 gates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FB9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Approval system + voice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81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Hardware Integration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84F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84F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FB9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OMI wearable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81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Institutional Knowledge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84F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84F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FB9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Compounds over time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84F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818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31520" y="46634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win every row.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58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TEAM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731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people. One AI company running autonomously.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463040"/>
            <a:ext cx="3840480" cy="292608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101600" dist="38100" dir="16200000">
              <a:srgbClr val="000000">
                <a:alpha val="4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463040"/>
            <a:ext cx="3840480" cy="54864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6916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Veer Saraf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914400" y="21031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2468880"/>
            <a:ext cx="3474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C9D1D9"/>
                </a:solidFill>
              </a:rPr>
              <a:t>Built the entire orchestration system in 24 hours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C9D1D9"/>
                </a:solidFill>
              </a:rPr>
              <a:t>Claude CLI subprocess runner with session persistence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C9D1D9"/>
                </a:solidFill>
              </a:rPr>
              <a:t>Convex real-time backend + heartbeat scheduler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C9D1D9"/>
                </a:solidFill>
              </a:rPr>
              <a:t>Inter-agent message bus architecture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C9D1D9"/>
                </a:solidFill>
              </a:rPr>
              <a:t>Perplexity, ElevenLabs, OMI, Twilio integrations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54880" y="1463040"/>
            <a:ext cx="3840480" cy="292608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101600" dist="38100" dir="16200000">
              <a:srgbClr val="000000">
                <a:alpha val="4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463040"/>
            <a:ext cx="3840480" cy="54864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12" name="Text 10"/>
          <p:cNvSpPr/>
          <p:nvPr/>
        </p:nvSpPr>
        <p:spPr>
          <a:xfrm>
            <a:off x="4937760" y="16916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Varun Kalvakota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937760" y="21031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&amp; Pitch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937760" y="2468880"/>
            <a:ext cx="3474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C9D1D9"/>
                </a:solidFill>
              </a:rPr>
              <a:t>Product positioning &amp; market strategy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C9D1D9"/>
                </a:solidFill>
              </a:rPr>
              <a:t>Competitive analysis &amp; moat identification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C9D1D9"/>
                </a:solidFill>
              </a:rPr>
              <a:t>Go-to-market &amp; customer segmentation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C9D1D9"/>
                </a:solidFill>
              </a:rPr>
              <a:t>Pitch design &amp; demo narrative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C9D1D9"/>
                </a:solidFill>
              </a:rPr>
              <a:t>The voice you're hearing right now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31520" y="45720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the proof of concept — two people running an AI-powered company.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09728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spc="8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INTERSTICE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3200400" y="2148840"/>
            <a:ext cx="2743200" cy="0"/>
          </a:xfrm>
          <a:prstGeom prst="line">
            <a:avLst/>
          </a:prstGeom>
          <a:noFill/>
          <a:ln w="254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371600" y="237744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space between what you want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i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what gets done.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0" y="32004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filled it.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0" y="4206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  OMI  •  Perplexity Agent API  •  ElevenLabs  •  Convex  •  Claude  •  Twilio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0" y="45720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Varun Kalvakota  &amp;  Veer Saraf  |  HackHayward 2026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Interstice — Your AI Company, On Your Wrist</dc:title>
  <dc:subject>PptxGenJS Presentation</dc:subject>
  <dc:creator>Varun Kalvakota &amp; Veer Saraf</dc:creator>
  <cp:lastModifiedBy>Varun Kalvakota &amp; Veer Saraf</cp:lastModifiedBy>
  <cp:revision>1</cp:revision>
  <dcterms:created xsi:type="dcterms:W3CDTF">2026-03-22T10:28:41Z</dcterms:created>
  <dcterms:modified xsi:type="dcterms:W3CDTF">2026-03-22T10:28:41Z</dcterms:modified>
</cp:coreProperties>
</file>